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D166"/>
                </a:solidFill>
              </a:rPr>
              <a:t>LOJA VELOZ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Contínua de Microsserviços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Docker Compose ao Kubernetes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Observabilidade e CI/CD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463040" cy="301752"/>
          </a:xfrm>
          <a:prstGeom prst="rect">
            <a:avLst>
              <a:gd name="adj" fmla="val 24242"/>
            </a:avLst>
          </a:prstGeom>
          <a:solidFill>
            <a:srgbClr val="0DB7E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Docker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2834640"/>
            <a:ext cx="1463040" cy="301752"/>
          </a:xfrm>
          <a:prstGeom prst="rect">
            <a:avLst>
              <a:gd name="adj" fmla="val 24242"/>
            </a:avLst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83464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Kubernetes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2834640"/>
            <a:ext cx="1463040" cy="301752"/>
          </a:xfrm>
          <a:prstGeom prst="rect">
            <a:avLst>
              <a:gd name="adj" fmla="val 24242"/>
            </a:avLst>
          </a:prstGeom>
          <a:solidFill>
            <a:srgbClr val="24292E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83464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GitHub Actions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2834640"/>
            <a:ext cx="1463040" cy="301752"/>
          </a:xfrm>
          <a:prstGeom prst="rect">
            <a:avLst>
              <a:gd name="adj" fmla="val 24242"/>
            </a:avLst>
          </a:prstGeom>
          <a:solidFill>
            <a:srgbClr val="7B42B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83464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Terraform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92240" y="2834640"/>
            <a:ext cx="1463040" cy="301752"/>
          </a:xfrm>
          <a:prstGeom prst="rect">
            <a:avLst>
              <a:gd name="adj" fmla="val 24242"/>
            </a:avLst>
          </a:prstGeom>
          <a:solidFill>
            <a:srgbClr val="F468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834640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OpenTelemetry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Cloud DevOps Engineer  ·  MVP em 4 Semanas  ·  2025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486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01  /  O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precisamos mudar?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 da Loja Veloz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6916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67335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Indisponibilidade durante deploys manuais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258568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35000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3317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Incapacidade de escalar em picos de tráfego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0040" y="2916936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00837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99008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Baixa rastreabilidade de falhas entre serviços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20040" y="3575304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66674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64845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Ambientes de dev inconsistentes entre times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9" name="Text 13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</a:rPr>
              <a:t>Objetivo: zero downtime em deploys · escalonamento automático · diagnóstico em segundos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02  /  ARQUITETURA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Pedidos Veloz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microsserviços · comunicação síncrona e assíncrona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1938528"/>
            <a:ext cx="82296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664208"/>
            <a:ext cx="82296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395728"/>
            <a:ext cx="82296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664208"/>
            <a:ext cx="86868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2395728"/>
            <a:ext cx="86868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54480"/>
            <a:ext cx="1737360" cy="640080"/>
          </a:xfrm>
          <a:prstGeom prst="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1280160"/>
            <a:ext cx="1737360" cy="640080"/>
          </a:xfrm>
          <a:prstGeom prst="rect">
            <a:avLst>
              <a:gd name="adj" fmla="val 11429"/>
            </a:avLst>
          </a:prstGeom>
          <a:solidFill>
            <a:srgbClr val="1A6FAF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1280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Pedidos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005840"/>
            <a:ext cx="1737360" cy="640080"/>
          </a:xfrm>
          <a:prstGeom prst="rect">
            <a:avLst>
              <a:gd name="adj" fmla="val 11429"/>
            </a:avLst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005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Pagamentos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103120"/>
            <a:ext cx="1737360" cy="640080"/>
          </a:xfrm>
          <a:prstGeom prst="rect">
            <a:avLst>
              <a:gd name="adj" fmla="val 11429"/>
            </a:avLst>
          </a:prstGeom>
          <a:solidFill>
            <a:srgbClr val="1A7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103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Estoque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173736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926080"/>
            <a:ext cx="1737360" cy="548640"/>
          </a:xfrm>
          <a:prstGeom prst="rect">
            <a:avLst>
              <a:gd name="adj" fmla="val 13333"/>
            </a:avLst>
          </a:prstGeom>
          <a:solidFill>
            <a:srgbClr val="FF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233172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RabbitMQ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1920240"/>
            <a:ext cx="0" cy="100584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200400" y="3200400"/>
            <a:ext cx="114300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Observabilidade: Prometheus · Grafana · Jaeger (OpenTelemetry) · Loki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B7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03  /  AMBIENTE LOCAL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local padronizado — um único comando para subir tudo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65760"/>
            <a:ext cx="1280160" cy="1280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600200"/>
            <a:ext cx="5212080" cy="3200400"/>
          </a:xfrm>
          <a:prstGeom prst="rect">
            <a:avLst/>
          </a:prstGeom>
          <a:solidFill>
            <a:srgbClr val="1E253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7830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Subir todos os serviços
</a:t>
            </a:r>
            <a:pPr indent="0" marL="0">
              <a:buNone/>
            </a:pPr>
            <a:r>
              <a:rPr lang="en-US" sz="95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
</a:t>
            </a:r>
            <a:pPr indent="0" marL="0">
              <a:buNone/>
            </a:pPr>
            <a:r>
              <a:rPr lang="en-US" sz="950" dirty="0">
                <a:solidFill>
                  <a:srgbClr val="8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
</a:t>
            </a:r>
            <a:pPr indent="0" marL="0">
              <a:buNone/>
            </a:pPr>
            <a:r>
              <a:rPr lang="en-US" sz="950" dirty="0">
                <a:solidFill>
                  <a:srgbClr val="A8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api-gateway:
</a:t>
            </a:r>
            <a:pPr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./services/api-gateway
</a:t>
            </a:r>
            <a:pPr indent="0" marL="0">
              <a:buNone/>
            </a:pPr>
            <a:r>
              <a:rPr lang="en-US" sz="950" dirty="0">
                <a:solidFill>
                  <a:srgbClr val="A8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pedidos:
</a:t>
            </a:r>
            <a:pPr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[postgres, rabbitmq]
</a:t>
            </a:r>
            <a:pPr indent="0" marL="0">
              <a:buNone/>
            </a:pPr>
            <a:r>
              <a:rPr lang="en-US" sz="950" dirty="0">
                <a:solidFill>
                  <a:srgbClr val="A8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postgres:
</a:t>
            </a:r>
            <a:pPr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postgres:16-alpine
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0" y="1600200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75564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36208" y="1691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Redes isoladas por serviço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715000" y="2377440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5328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36208" y="24688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Volumes persistentes para dados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715000" y="3154680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31012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36208" y="32461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Variáveis de ambiente via .env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715000" y="3931920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408736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36208" y="40233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Health checks em todos os serviços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B7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04  /  CONTEINERIZAÇÃO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com Boas Práticas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· imagens seguras e enxutas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377440" cy="146304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0F0"/>
                </a:solidFill>
              </a:rPr>
              <a:t>node:20-alpine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D0F0"/>
                </a:solidFill>
              </a:rPr>
              <a:t>+ deps dev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640080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210312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1554480"/>
            <a:ext cx="2377440" cy="1463040"/>
          </a:xfrm>
          <a:prstGeom prst="rect">
            <a:avLst>
              <a:gd name="adj" fmla="val 6250"/>
            </a:avLst>
          </a:prstGeom>
          <a:solidFill>
            <a:srgbClr val="1A6FAF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240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0F0"/>
                </a:solidFill>
              </a:rPr>
              <a:t>node:20-alpine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D0F0"/>
                </a:solidFill>
              </a:rPr>
              <a:t>sem dev 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2286000"/>
            <a:ext cx="640080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10312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0" y="1554480"/>
            <a:ext cx="2377440" cy="1463040"/>
          </a:xfrm>
          <a:prstGeom prst="rect">
            <a:avLst>
              <a:gd name="adj" fmla="val 6250"/>
            </a:avLst>
          </a:prstGeom>
          <a:solidFill>
            <a:srgbClr val="1A7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240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0F0"/>
                </a:solidFill>
              </a:rPr>
              <a:t>Imagem 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D0F0"/>
                </a:solidFill>
              </a:rPr>
              <a:t>~85MB (vs 420MB)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46120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3232" y="3218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8"/>
                </a:solidFill>
              </a:rPr>
              <a:t>Usuário não-root em todos os containers</a:t>
            </a:r>
            <a:endParaRPr lang="en-US" sz="10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02736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3232" y="35753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8"/>
                </a:solidFill>
              </a:rPr>
              <a:t>Imagens Alpine/Distroless (ataque mínimo)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5935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3931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8"/>
                </a:solidFill>
              </a:rPr>
              <a:t>.dockerignore exclui node_modules e .env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15968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" y="4288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8"/>
                </a:solidFill>
              </a:rPr>
              <a:t>HEALTHCHECK definido em cada Dockerfile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7258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3232" y="4645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8"/>
                </a:solidFill>
              </a:rPr>
              <a:t>Versionamento semântico: v1.3.0-a4f2c1d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05  /  KUBERNETES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em Produção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Manifestos declarativos · alta disponibilidade · auto-escala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11480"/>
            <a:ext cx="114300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600200"/>
            <a:ext cx="2788920" cy="3291840"/>
          </a:xfrm>
          <a:prstGeom prst="rect">
            <a:avLst/>
          </a:prstGeom>
          <a:solidFill>
            <a:srgbClr val="EBF3FF"/>
          </a:solidFill>
          <a:ln w="15240">
            <a:solidFill>
              <a:srgbClr val="326C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600200"/>
            <a:ext cx="2788920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60020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&amp; Service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1762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3 réplicas por serviço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Rolling Update zero-downtime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34930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Readiness &amp; liveness probes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1513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Resource limits (CPU/mem)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64408" y="1600200"/>
            <a:ext cx="2788920" cy="3291840"/>
          </a:xfrm>
          <a:prstGeom prst="rect">
            <a:avLst/>
          </a:prstGeom>
          <a:solidFill>
            <a:srgbClr val="E6F4ED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64408" y="1600200"/>
            <a:ext cx="2788920" cy="43891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Text 13"/>
          <p:cNvSpPr/>
          <p:nvPr/>
        </p:nvSpPr>
        <p:spPr>
          <a:xfrm>
            <a:off x="3264408" y="160020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 &amp; Segurança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01568" y="21762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ConfigMaps p/ variáveis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01568" y="2834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Secrets p/ credenciais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01568" y="34930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Pod Security: não-root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01568" y="41513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Network Policies RBAC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08776" y="1600200"/>
            <a:ext cx="2788920" cy="3291840"/>
          </a:xfrm>
          <a:prstGeom prst="rect">
            <a:avLst/>
          </a:prstGeom>
          <a:solidFill>
            <a:srgbClr val="FFF8E8"/>
          </a:solidFill>
          <a:ln w="15240">
            <a:solidFill>
              <a:srgbClr val="C057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08776" y="1600200"/>
            <a:ext cx="2788920" cy="438912"/>
          </a:xfrm>
          <a:prstGeom prst="rect">
            <a:avLst/>
          </a:prstGeom>
          <a:solidFill>
            <a:srgbClr val="C05700"/>
          </a:solidFill>
          <a:ln/>
        </p:spPr>
      </p:sp>
      <p:sp>
        <p:nvSpPr>
          <p:cNvPr id="23" name="Text 20"/>
          <p:cNvSpPr/>
          <p:nvPr/>
        </p:nvSpPr>
        <p:spPr>
          <a:xfrm>
            <a:off x="6208776" y="160020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Escalonamento HPA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45936" y="21762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70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Min 3 → Max 15 pods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45936" y="2834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70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Target: 60% CPU / 70% mem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45936" y="34930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70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Pre-scaling para campanhas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45936" y="415137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700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VPA p/ ajuste de limites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06  /  CI / CD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GitHub Actions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automatizado · testes · scan · deploy sem downtime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"/>
            <a:ext cx="1051560" cy="1051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508760"/>
            <a:ext cx="1325880" cy="1417320"/>
          </a:xfrm>
          <a:prstGeom prst="rect">
            <a:avLst>
              <a:gd name="adj" fmla="val 5517"/>
            </a:avLst>
          </a:prstGeom>
          <a:solidFill>
            <a:srgbClr val="1A3A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0848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Lint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Testes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74320" y="24871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ESLint + Jest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≥80% coverage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600200" y="1783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737360" y="1508760"/>
            <a:ext cx="1325880" cy="1417320"/>
          </a:xfrm>
          <a:prstGeom prst="rect">
            <a:avLst>
              <a:gd name="adj" fmla="val 5517"/>
            </a:avLst>
          </a:prstGeom>
          <a:solidFill>
            <a:srgbClr val="0DB7E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16002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20848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Imagem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737360" y="24871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Docker buildx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multi-arch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3063240" y="1783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200400" y="1508760"/>
            <a:ext cx="1325880" cy="1417320"/>
          </a:xfrm>
          <a:prstGeom prst="rect">
            <a:avLst>
              <a:gd name="adj" fmla="val 5517"/>
            </a:avLst>
          </a:prstGeom>
          <a:solidFill>
            <a:srgbClr val="C0392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6002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00400" y="20848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Segurança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3200400" y="24871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Trivy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CVE críticas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4526280" y="1783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663440" y="1508760"/>
            <a:ext cx="1325880" cy="1417320"/>
          </a:xfrm>
          <a:prstGeom prst="rect">
            <a:avLst>
              <a:gd name="adj" fmla="val 5517"/>
            </a:avLst>
          </a:prstGeom>
          <a:solidFill>
            <a:srgbClr val="24292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160020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63440" y="20848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Registry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663440" y="24871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GHCR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tag semântica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5989320" y="1783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126480" y="1508760"/>
            <a:ext cx="1325880" cy="1417320"/>
          </a:xfrm>
          <a:prstGeom prst="rect">
            <a:avLst>
              <a:gd name="adj" fmla="val 5517"/>
            </a:avLst>
          </a:prstGeom>
          <a:solidFill>
            <a:srgbClr val="326CE5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160020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26480" y="20848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K8s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126480" y="24871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kubectl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rolling update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7452360" y="1783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589520" y="1508760"/>
            <a:ext cx="1325880" cy="1417320"/>
          </a:xfrm>
          <a:prstGeom prst="rect">
            <a:avLst>
              <a:gd name="adj" fmla="val 5517"/>
            </a:avLst>
          </a:prstGeom>
          <a:solidFill>
            <a:srgbClr val="1A7A4A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2" y="160020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89520" y="20848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Smoke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7589520" y="24871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curl / k6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0D8F0"/>
                </a:solidFill>
              </a:rPr>
              <a:t>validação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274320" y="3154680"/>
            <a:ext cx="8595360" cy="64008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38" name="Text 29"/>
          <p:cNvSpPr/>
          <p:nvPr/>
        </p:nvSpPr>
        <p:spPr>
          <a:xfrm>
            <a:off x="274320" y="31546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DB78"/>
                </a:solidFill>
              </a:rPr>
              <a:t>🔒  Secrets gerenciados via GitHub Secrets — nunca expostos em logs ou código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40" name="Text 31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Trigger: </a:t>
            </a:r>
            <a:pPr algn="ctr" indent="0" marL="0">
              <a:buNone/>
            </a:pPr>
            <a:r>
              <a:rPr lang="en-US" sz="1050" dirty="0">
                <a:solidFill>
                  <a:srgbClr val="90B0D0"/>
                </a:solidFill>
              </a:rPr>
              <a:t>push/PR em main  →  CI dispara automaticamente  →  merge aprovado  →  CD executa deploy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07  /  OBSERVABILIDADE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· Logs · Traces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total da plataforma em tempo real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834640" cy="3383280"/>
          </a:xfrm>
          <a:prstGeom prst="rect">
            <a:avLst/>
          </a:prstGeom>
          <a:solidFill>
            <a:srgbClr val="1C1C2E"/>
          </a:solidFill>
          <a:ln w="19050">
            <a:solidFill>
              <a:srgbClr val="E6522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305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522C"/>
                </a:solidFill>
              </a:rPr>
              <a:t>MÉTRICAS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487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Prometheus + Grafana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22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SLO: p95 latência &lt; 300ms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3456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22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SLO: uptime ≥ 99,5%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22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Alertas via Slack/PagerDuty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1463040"/>
            <a:ext cx="2834640" cy="3383280"/>
          </a:xfrm>
          <a:prstGeom prst="rect">
            <a:avLst/>
          </a:prstGeom>
          <a:solidFill>
            <a:srgbClr val="1C1C2E"/>
          </a:solidFill>
          <a:ln w="1905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00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21305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</a:rPr>
              <a:t>LOGS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46120" y="2487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Fluentd + Loki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2900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Logs JSON estruturados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429000" y="3456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Correlação por trace ID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29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Retenção de 30 dias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17920" y="1463040"/>
            <a:ext cx="2834640" cy="3383280"/>
          </a:xfrm>
          <a:prstGeom prst="rect">
            <a:avLst/>
          </a:prstGeom>
          <a:solidFill>
            <a:srgbClr val="1C1C2E"/>
          </a:solidFill>
          <a:ln w="19050">
            <a:solidFill>
              <a:srgbClr val="60B0F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002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21305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0B0F4"/>
                </a:solidFill>
              </a:rPr>
              <a:t>TRACES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17920" y="2487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OpenTelemetry + Jaeger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0" y="2907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B0F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Tracing end-to-end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400800" y="3456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B0F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Auto-instrumentação Node.js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008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B0F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D8F0"/>
                </a:solidFill>
              </a:rPr>
              <a:t>Latência por hop de serviço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08  /  DEPLOY &amp; ESCALABILIDADE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+ HPA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 · escalonamento automático · rollback em segundos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0233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4023360" cy="4114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544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Rolling Update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0312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0756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maxUnavailable: 0  (sempre saudável)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151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58775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maxSurge: 1  (uma réplica extra)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2724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0998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Readiness probe valida novo pod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3931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61188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Tráfego migra gradualmente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5137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412394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Rollback automático se probe falhar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572000" y="1554480"/>
            <a:ext cx="42519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572000" y="1554480"/>
            <a:ext cx="4251960" cy="41148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21" name="Text 14"/>
          <p:cNvSpPr/>
          <p:nvPr/>
        </p:nvSpPr>
        <p:spPr>
          <a:xfrm>
            <a:off x="4572000" y="15544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HPA – Horizontal Pod Autoscaler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754880" y="3977640"/>
            <a:ext cx="411480" cy="45720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23" name="Text 16"/>
          <p:cNvSpPr/>
          <p:nvPr/>
        </p:nvSpPr>
        <p:spPr>
          <a:xfrm>
            <a:off x="4754880" y="37216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5303520" y="3703320"/>
            <a:ext cx="411480" cy="73152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25" name="Text 18"/>
          <p:cNvSpPr/>
          <p:nvPr/>
        </p:nvSpPr>
        <p:spPr>
          <a:xfrm>
            <a:off x="5303520" y="344728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</a:rPr>
              <a:t>5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5852160" y="3246120"/>
            <a:ext cx="411480" cy="118872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27" name="Text 20"/>
          <p:cNvSpPr/>
          <p:nvPr/>
        </p:nvSpPr>
        <p:spPr>
          <a:xfrm>
            <a:off x="5852160" y="299008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</a:rPr>
              <a:t>8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6400800" y="2788920"/>
            <a:ext cx="411480" cy="164592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0" y="253288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</a:rPr>
              <a:t>12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949440" y="3154680"/>
            <a:ext cx="411480" cy="128016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31" name="Text 24"/>
          <p:cNvSpPr/>
          <p:nvPr/>
        </p:nvSpPr>
        <p:spPr>
          <a:xfrm>
            <a:off x="6949440" y="2898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</a:rPr>
              <a:t>9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7498080" y="3611880"/>
            <a:ext cx="411480" cy="82296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33" name="Text 26"/>
          <p:cNvSpPr/>
          <p:nvPr/>
        </p:nvSpPr>
        <p:spPr>
          <a:xfrm>
            <a:off x="7498080" y="33558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</a:rPr>
              <a:t>6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8046720" y="3977640"/>
            <a:ext cx="411480" cy="457200"/>
          </a:xfrm>
          <a:prstGeom prst="rect">
            <a:avLst/>
          </a:prstGeom>
          <a:solidFill>
            <a:srgbClr val="1A6FAF"/>
          </a:solidFill>
          <a:ln/>
        </p:spPr>
      </p:sp>
      <p:sp>
        <p:nvSpPr>
          <p:cNvPr id="35" name="Text 28"/>
          <p:cNvSpPr/>
          <p:nvPr/>
        </p:nvSpPr>
        <p:spPr>
          <a:xfrm>
            <a:off x="8046720" y="37216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4663440" y="47365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72"/>
                </a:solidFill>
              </a:rPr>
              <a:t>Pods ativos ao longo do tempo (pico de campanha)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4663440" y="2103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FAF"/>
                </a:solidFill>
              </a:rPr>
              <a:t>Min: 3 pods  →  Max: 15 pods  |  Target CPU: 60%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42B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09  /  INFRAESTRUTURA COMO CÓDIGO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reproduzível · versionada · auditável via Git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365760"/>
            <a:ext cx="1188720" cy="1188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600200"/>
            <a:ext cx="4023360" cy="1234440"/>
          </a:xfrm>
          <a:prstGeom prst="rect">
            <a:avLst>
              <a:gd name="adj" fmla="val 5926"/>
            </a:avLst>
          </a:prstGeom>
          <a:solidFill>
            <a:srgbClr val="2D1B5E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709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modules/network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1122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8F0"/>
                </a:solidFill>
              </a:rPr>
              <a:t>VPC, subnets, NAT, firewall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4023360" cy="1234440"/>
          </a:xfrm>
          <a:prstGeom prst="rect">
            <a:avLst>
              <a:gd name="adj" fmla="val 5926"/>
            </a:avLst>
          </a:prstGeom>
          <a:solidFill>
            <a:srgbClr val="1A2B6B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1709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modules/gke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21122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8F0"/>
                </a:solidFill>
              </a:rPr>
              <a:t>Cluster Kubernetes gerenciado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3063240"/>
            <a:ext cx="4023360" cy="1234440"/>
          </a:xfrm>
          <a:prstGeom prst="rect">
            <a:avLst>
              <a:gd name="adj" fmla="val 5926"/>
            </a:avLst>
          </a:prstGeom>
          <a:solidFill>
            <a:srgbClr val="1A4B6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172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modules/registry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5753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8F0"/>
                </a:solidFill>
              </a:rPr>
              <a:t>Artifact Registry para imagens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3063240"/>
            <a:ext cx="4023360" cy="1234440"/>
          </a:xfrm>
          <a:prstGeom prst="rect">
            <a:avLst>
              <a:gd name="adj" fmla="val 5926"/>
            </a:avLst>
          </a:prstGeom>
          <a:solidFill>
            <a:srgbClr val="1A5B3A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3172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modules/database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35753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8F0"/>
                </a:solidFill>
              </a:rPr>
              <a:t>Cloud SQL PostgreSQL HA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1A1040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79E8"/>
                </a:solidFill>
              </a:rPr>
              <a:t>Backend remoto: GCS bucket  ·  Estado versionado  ·  PR review antes de aplicar (terraform plan)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5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10  /  PLANO DE EXECUÇÃO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em 4 Semanas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 alinhada à campanha promocional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057400" cy="548640"/>
          </a:xfrm>
          <a:prstGeom prst="rect">
            <a:avLst/>
          </a:prstGeom>
          <a:solidFill>
            <a:srgbClr val="0DB7E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6002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1801368"/>
            <a:ext cx="155448" cy="146304"/>
          </a:xfrm>
          <a:prstGeom prst="rect">
            <a:avLst/>
          </a:prstGeom>
          <a:solidFill>
            <a:srgbClr val="0DB7ED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286000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86000"/>
            <a:ext cx="2057400" cy="365760"/>
          </a:xfrm>
          <a:prstGeom prst="rect">
            <a:avLst/>
          </a:prstGeom>
          <a:solidFill>
            <a:srgbClr val="0DB7E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286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Fundação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743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Docker Compose · Dockerfiles · Repositório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32888" y="1600200"/>
            <a:ext cx="2057400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2532888" y="16002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90288" y="1801368"/>
            <a:ext cx="155448" cy="14630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32888" y="2286000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32888" y="2286000"/>
            <a:ext cx="2057400" cy="365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2286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Kubernetes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2616" y="2743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Manifests K8s · Staging · HPA · Secrets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45736" y="1600200"/>
            <a:ext cx="2057400" cy="54864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21" name="Text 19"/>
          <p:cNvSpPr/>
          <p:nvPr/>
        </p:nvSpPr>
        <p:spPr>
          <a:xfrm>
            <a:off x="4745736" y="16002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 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03136" y="1801368"/>
            <a:ext cx="155448" cy="146304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45736" y="2286000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45736" y="2286000"/>
            <a:ext cx="2057400" cy="36576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25" name="Text 23"/>
          <p:cNvSpPr/>
          <p:nvPr/>
        </p:nvSpPr>
        <p:spPr>
          <a:xfrm>
            <a:off x="4745736" y="2286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CI/CD + Segurança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55464" y="2743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GitHub Actions · Trivy · Deploy automatizado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58584" y="1600200"/>
            <a:ext cx="20574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958584" y="16002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 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58584" y="2286000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58584" y="2286000"/>
            <a:ext cx="20574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958584" y="2286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Observabilidade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68312" y="2743200"/>
            <a:ext cx="1828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Prometheus · Grafana · Jaeger · Load test k6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🚀  Campanha Promocional: semana 4 finalizada com cluster pré-escalado e dashboards ativos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11680"/>
            <a:ext cx="164592" cy="31318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D166"/>
                </a:solidFill>
              </a:rPr>
              <a:t>LOJA VELOZ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402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221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</a:rPr>
              <a:t>Ambiente local padronizado com Docker Compose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8892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770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</a:rPr>
              <a:t>Kubernetes produção: deploy, HPA, segurança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3756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319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</a:rPr>
              <a:t>CI/CD: build, scan, deploy automatizados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86200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3867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</a:rPr>
              <a:t>Observabilidade: métricas, logs e tracing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434840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4416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</a:rPr>
              <a:t>IaC com Terraform: infra reproduzível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6035040" y="2103120"/>
            <a:ext cx="2834640" cy="2743200"/>
          </a:xfrm>
          <a:prstGeom prst="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18" name="Text 11"/>
          <p:cNvSpPr/>
          <p:nvPr/>
        </p:nvSpPr>
        <p:spPr>
          <a:xfrm>
            <a:off x="603504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📁 Repositório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github.com/loja-veloz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035040" y="3291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🎥 Vídeo no YouTube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[link no README]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6035040" y="4160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B4CC"/>
                </a:solidFill>
              </a:rPr>
              <a:t>📄 Relatório completo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B4CC"/>
                </a:solidFill>
              </a:rPr>
              <a:t>em PDF (teórico + prático)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Loja Veloz – Video Pitch</dc:title>
  <dc:subject>PptxGenJS Presentation</dc:subject>
  <dc:creator>Cloud DevOps Engineer</dc:creator>
  <cp:lastModifiedBy>Cloud DevOps Engineer</cp:lastModifiedBy>
  <cp:revision>1</cp:revision>
  <dcterms:created xsi:type="dcterms:W3CDTF">2026-05-30T00:14:40Z</dcterms:created>
  <dcterms:modified xsi:type="dcterms:W3CDTF">2026-05-30T00:14:40Z</dcterms:modified>
</cp:coreProperties>
</file>